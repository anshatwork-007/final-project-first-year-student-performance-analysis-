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4" r:id="rId7"/>
    <p:sldId id="262" r:id="rId8"/>
    <p:sldId id="263" r:id="rId9"/>
    <p:sldId id="266" r:id="rId10"/>
    <p:sldId id="267" r:id="rId11"/>
    <p:sldId id="268" r:id="rId12"/>
    <p:sldId id="269" r:id="rId13"/>
    <p:sldId id="271" r:id="rId14"/>
    <p:sldId id="270" r:id="rId15"/>
    <p:sldId id="265" r:id="rId16"/>
  </p:sldIdLst>
  <p:sldSz cx="14630400" cy="8229600"/>
  <p:notesSz cx="8229600" cy="146304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Inter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4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83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1951077"/>
            <a:ext cx="4572119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929878" y="2019062"/>
            <a:ext cx="429994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 LAB PROJECT REPORT · SIT PUNE · 2025–26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3790" y="246804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Exploratory Data Analysis on Students' Academic Performance</a:t>
            </a:r>
            <a:endParaRPr lang="en-US" sz="4450" dirty="0"/>
          </a:p>
        </p:txBody>
      </p:sp>
      <p:sp>
        <p:nvSpPr>
          <p:cNvPr id="7" name="Text 4"/>
          <p:cNvSpPr/>
          <p:nvPr/>
        </p:nvSpPr>
        <p:spPr>
          <a:xfrm>
            <a:off x="793790" y="493454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of Electronics &amp; Telecommunication Engineering · First Year B.Tech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91550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Ansh Yadav  · 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 In-charge: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Mrs. Snehal Bhosale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00B27C-8515-4019-0DB0-6B178F58EF8C}"/>
              </a:ext>
            </a:extLst>
          </p:cNvPr>
          <p:cNvSpPr/>
          <p:nvPr/>
        </p:nvSpPr>
        <p:spPr>
          <a:xfrm>
            <a:off x="2583712" y="5915501"/>
            <a:ext cx="4497572" cy="5384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9677" y="453509"/>
            <a:ext cx="5974794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&amp; Project Objectives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677" y="1175028"/>
            <a:ext cx="3358753" cy="33587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9191" y="2558653"/>
            <a:ext cx="6549033" cy="591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applies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EDA techniques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the Semester 2 curriculum to the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Performance in Exams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dataset (Kaggle) — analyzing 1,000 students across Math, Reading, and Writing scores alongside demographic and socioeconomic factors.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2179677" y="4753570"/>
            <a:ext cx="297656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179677" y="4991219"/>
            <a:ext cx="5086707" cy="1524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2179677" y="5096113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Score Distribution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2179677" y="5387221"/>
            <a:ext cx="5086707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and visual analysis across all three subjects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64016" y="4753570"/>
            <a:ext cx="297656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364016" y="4991219"/>
            <a:ext cx="5086707" cy="1524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364016" y="5096113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Gender Impact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364016" y="5387221"/>
            <a:ext cx="5086707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Subject-wise performance comparison by gender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179677" y="5793581"/>
            <a:ext cx="297656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179677" y="6031230"/>
            <a:ext cx="5086707" cy="1524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2179677" y="6136124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Parental Education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2179677" y="6427232"/>
            <a:ext cx="5086707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between parent education and student outcomes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364016" y="5793581"/>
            <a:ext cx="297656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364016" y="6031230"/>
            <a:ext cx="5086707" cy="1524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7364016" y="6136124"/>
            <a:ext cx="2142292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Prep Effectiveness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364016" y="6427232"/>
            <a:ext cx="5086707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 of students who completed vs. skipped the course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179677" y="6833592"/>
            <a:ext cx="297656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179677" y="7071241"/>
            <a:ext cx="5086707" cy="1524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2179677" y="7176135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Socioeconomic Role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2179677" y="7467243"/>
            <a:ext cx="5086707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Lunch type as a proxy for economic status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364016" y="6833592"/>
            <a:ext cx="297656" cy="185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364016" y="7071241"/>
            <a:ext cx="5086707" cy="1524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7364016" y="7176135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Grade Classification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7364016" y="7467243"/>
            <a:ext cx="5086707" cy="197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Categorize students: Distinction, First Class, Pass, Fail</a:t>
            </a:r>
            <a:endParaRPr lang="en-US" sz="11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F23504-9228-EAE0-EF90-3E72BF830DCF}"/>
              </a:ext>
            </a:extLst>
          </p:cNvPr>
          <p:cNvSpPr/>
          <p:nvPr/>
        </p:nvSpPr>
        <p:spPr>
          <a:xfrm>
            <a:off x="12844130" y="7664411"/>
            <a:ext cx="1786270" cy="448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5123" y="441603"/>
            <a:ext cx="3898583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at a Glance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1935123" y="1143119"/>
            <a:ext cx="10760035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Kaggle </a:t>
            </a: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Performance in Exams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dataset — 1,000 rows, 10 columns (8 raw + 2 computed), zero missing values.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35123" y="1552099"/>
            <a:ext cx="5313045" cy="51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1000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3617000" y="2224921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935123" y="2532817"/>
            <a:ext cx="5313045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rows in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82113" y="1552099"/>
            <a:ext cx="5313045" cy="51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9063990" y="2224921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82113" y="2532817"/>
            <a:ext cx="5313045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raw + 2 computed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35123" y="3035498"/>
            <a:ext cx="5313045" cy="51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</a:t>
            </a:r>
            <a:endParaRPr lang="en-US" sz="4050" dirty="0"/>
          </a:p>
        </p:txBody>
      </p:sp>
      <p:sp>
        <p:nvSpPr>
          <p:cNvPr id="11" name="Text 9"/>
          <p:cNvSpPr/>
          <p:nvPr/>
        </p:nvSpPr>
        <p:spPr>
          <a:xfrm>
            <a:off x="3617000" y="3708321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35123" y="4016216"/>
            <a:ext cx="5313045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complete dataset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82113" y="3035498"/>
            <a:ext cx="5313045" cy="51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4050" dirty="0"/>
          </a:p>
        </p:txBody>
      </p:sp>
      <p:sp>
        <p:nvSpPr>
          <p:cNvPr id="14" name="Text 12"/>
          <p:cNvSpPr/>
          <p:nvPr/>
        </p:nvSpPr>
        <p:spPr>
          <a:xfrm>
            <a:off x="9063990" y="3708321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Categorical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82113" y="4016216"/>
            <a:ext cx="5313045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Gender, race, education, lunch, test prep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35123" y="4387453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Column Overview</a:t>
            </a:r>
            <a:endParaRPr lang="en-US" sz="2450" dirty="0"/>
          </a:p>
        </p:txBody>
      </p:sp>
      <p:sp>
        <p:nvSpPr>
          <p:cNvPr id="17" name="Shape 15"/>
          <p:cNvSpPr/>
          <p:nvPr/>
        </p:nvSpPr>
        <p:spPr>
          <a:xfrm>
            <a:off x="1935123" y="4938117"/>
            <a:ext cx="10760035" cy="2849880"/>
          </a:xfrm>
          <a:prstGeom prst="roundRect">
            <a:avLst>
              <a:gd name="adj" fmla="val 229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942743" y="4945737"/>
            <a:ext cx="10744795" cy="3543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098715" y="5017651"/>
            <a:ext cx="344507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63114" y="5017651"/>
            <a:ext cx="6668572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/ Female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42743" y="5300067"/>
            <a:ext cx="10744795" cy="35433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098715" y="5371981"/>
            <a:ext cx="344507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race_ethnicity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63114" y="5371981"/>
            <a:ext cx="6668572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A through 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942743" y="5654397"/>
            <a:ext cx="10744795" cy="3543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098715" y="5726311"/>
            <a:ext cx="344507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parent_education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63114" y="5726311"/>
            <a:ext cx="6668572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school to Master's degree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942743" y="6008727"/>
            <a:ext cx="10744795" cy="35433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098715" y="6080641"/>
            <a:ext cx="344507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63114" y="6080641"/>
            <a:ext cx="6668572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/ Free-reduced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942743" y="6363057"/>
            <a:ext cx="10744795" cy="3543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098715" y="6434971"/>
            <a:ext cx="344507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test_prep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63114" y="6434971"/>
            <a:ext cx="6668572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 / None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942743" y="6717387"/>
            <a:ext cx="10744795" cy="35433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098715" y="6789301"/>
            <a:ext cx="344507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math / reading / writing_score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63114" y="6789301"/>
            <a:ext cx="6668572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Integer scores 0–100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942743" y="7071717"/>
            <a:ext cx="10744795" cy="35433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098715" y="7143631"/>
            <a:ext cx="344507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63114" y="7143631"/>
            <a:ext cx="6668572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 of three subject scores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942743" y="7426047"/>
            <a:ext cx="10744795" cy="35433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098715" y="7497961"/>
            <a:ext cx="3445073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average_score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863114" y="7497961"/>
            <a:ext cx="6668572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of three subject scores</a:t>
            </a:r>
            <a:endParaRPr lang="en-US" sz="12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540EFFE-5ED7-A782-D955-93C948A1D3E1}"/>
              </a:ext>
            </a:extLst>
          </p:cNvPr>
          <p:cNvSpPr/>
          <p:nvPr/>
        </p:nvSpPr>
        <p:spPr>
          <a:xfrm>
            <a:off x="12844130" y="7664411"/>
            <a:ext cx="1786270" cy="448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61511"/>
            <a:ext cx="54934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Libraries Used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69025" y="1773793"/>
            <a:ext cx="13092351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Python libraries formed the complete EDA pipeline — from data loading and computation to publication-quality visualisation.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9025" y="2705457"/>
            <a:ext cx="439460" cy="4394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9025" y="3410903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Pandas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69025" y="3881795"/>
            <a:ext cx="6413182" cy="104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library for loading, cleaning, and manipulating the DataFrame. Used for </a:t>
            </a: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read_csv()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groupby()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crosstab()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filtering, and derived columns.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8193" y="2705457"/>
            <a:ext cx="439460" cy="439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8193" y="3410903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NumPy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7448193" y="3881795"/>
            <a:ext cx="6413182" cy="104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Foundational numerical computing library. Powers all statistical computations internally; used directly for </a:t>
            </a:r>
            <a:r>
              <a:rPr lang="en-US" sz="17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np.round()</a:t>
            </a: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 float values.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025" y="5353407"/>
            <a:ext cx="439460" cy="4394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9025" y="6058853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Matplotlib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769025" y="6529745"/>
            <a:ext cx="6413182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visualisation library. Step 13 uses it to generate 7 chart types — line, scatter, histogram, box plot, bubble, area, and heatmap.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8193" y="5353407"/>
            <a:ext cx="439460" cy="4394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48193" y="6058853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Seaborn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7448193" y="6529745"/>
            <a:ext cx="6413182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Statistical visualisation built on Matplotlib. Step 14 uses it for 5 polished charts — scatter, KDE histogram, box plot, pairplot, and annotated heatmap.</a:t>
            </a:r>
            <a:endParaRPr lang="en-US" sz="17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3D7600-24C8-F0EF-B9BD-D726C01E8B0A}"/>
              </a:ext>
            </a:extLst>
          </p:cNvPr>
          <p:cNvSpPr/>
          <p:nvPr/>
        </p:nvSpPr>
        <p:spPr>
          <a:xfrm>
            <a:off x="12844130" y="7664411"/>
            <a:ext cx="1786270" cy="448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709255"/>
            <a:ext cx="9806345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Descriptive Statistics &amp; Data Quality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407" y="1956435"/>
            <a:ext cx="3276600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Subject Score Summary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781407" y="2552462"/>
            <a:ext cx="7758827" cy="3814286"/>
          </a:xfrm>
          <a:prstGeom prst="roundRect">
            <a:avLst>
              <a:gd name="adj" fmla="val 245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89027" y="2560082"/>
            <a:ext cx="7743587" cy="6331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12746" y="2699504"/>
            <a:ext cx="17178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Statistic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184684" y="2699504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Math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4578429" y="2699504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972175" y="2699504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Writing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365921" y="2699504"/>
            <a:ext cx="9434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89027" y="3193256"/>
            <a:ext cx="7743587" cy="6331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12746" y="3332678"/>
            <a:ext cx="17178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184684" y="3332678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66.09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578429" y="3332678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69.17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972175" y="3332678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68.05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365921" y="3332678"/>
            <a:ext cx="9434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67.77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89027" y="3826431"/>
            <a:ext cx="7743587" cy="6331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012746" y="3965853"/>
            <a:ext cx="17178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184684" y="3965853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66.00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4578429" y="3965853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70.00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5972175" y="3965853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69.00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365921" y="3965853"/>
            <a:ext cx="9434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67.33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89027" y="4459605"/>
            <a:ext cx="7743587" cy="6331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012746" y="4599027"/>
            <a:ext cx="17178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Std Dev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3184684" y="4599027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15.16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578429" y="4599027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14.60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5972175" y="4599027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15.20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365921" y="4599027"/>
            <a:ext cx="9434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13.14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789027" y="5092779"/>
            <a:ext cx="7743587" cy="63317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1012746" y="5232202"/>
            <a:ext cx="17178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3184684" y="5232202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4578429" y="5232202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5972175" y="5232202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7365921" y="5232202"/>
            <a:ext cx="9434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9.00</a:t>
            </a:r>
            <a:endParaRPr lang="en-US" sz="1750" dirty="0"/>
          </a:p>
        </p:txBody>
      </p:sp>
      <p:sp>
        <p:nvSpPr>
          <p:cNvPr id="35" name="Shape 33"/>
          <p:cNvSpPr/>
          <p:nvPr/>
        </p:nvSpPr>
        <p:spPr>
          <a:xfrm>
            <a:off x="789027" y="5725954"/>
            <a:ext cx="7743587" cy="63317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012746" y="5865376"/>
            <a:ext cx="17178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3184684" y="5865376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4578429" y="5865376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972175" y="5865376"/>
            <a:ext cx="9396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750" dirty="0"/>
          </a:p>
        </p:txBody>
      </p:sp>
      <p:sp>
        <p:nvSpPr>
          <p:cNvPr id="40" name="Text 38"/>
          <p:cNvSpPr/>
          <p:nvPr/>
        </p:nvSpPr>
        <p:spPr>
          <a:xfrm>
            <a:off x="7365921" y="5865376"/>
            <a:ext cx="9434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100.00</a:t>
            </a:r>
            <a:endParaRPr lang="en-US" sz="1750" dirty="0"/>
          </a:p>
        </p:txBody>
      </p:sp>
      <p:sp>
        <p:nvSpPr>
          <p:cNvPr id="41" name="Text 39"/>
          <p:cNvSpPr/>
          <p:nvPr/>
        </p:nvSpPr>
        <p:spPr>
          <a:xfrm>
            <a:off x="781407" y="6613922"/>
            <a:ext cx="775882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leads in mean score; Math is lowest. Close mean–median proximity indicates symmetric distributions.</a:t>
            </a:r>
            <a:endParaRPr lang="en-US" sz="1750" dirty="0"/>
          </a:p>
        </p:txBody>
      </p:sp>
      <p:sp>
        <p:nvSpPr>
          <p:cNvPr id="42" name="Text 40"/>
          <p:cNvSpPr/>
          <p:nvPr/>
        </p:nvSpPr>
        <p:spPr>
          <a:xfrm>
            <a:off x="9092446" y="1956435"/>
            <a:ext cx="3153251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Value Analysis</a:t>
            </a:r>
            <a:endParaRPr lang="en-US" sz="2150" dirty="0"/>
          </a:p>
        </p:txBody>
      </p:sp>
      <p:sp>
        <p:nvSpPr>
          <p:cNvPr id="43" name="Text 41"/>
          <p:cNvSpPr/>
          <p:nvPr/>
        </p:nvSpPr>
        <p:spPr>
          <a:xfrm>
            <a:off x="9092446" y="2525078"/>
            <a:ext cx="4764048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10 columns recorded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missing values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 exceptionally clean dataset. No imputation or row-dropping was required, allowing all 1,000 rows to be used in every analysis step.</a:t>
            </a:r>
            <a:endParaRPr lang="en-US" sz="1750" dirty="0"/>
          </a:p>
        </p:txBody>
      </p:sp>
      <p:sp>
        <p:nvSpPr>
          <p:cNvPr id="44" name="Shape 42"/>
          <p:cNvSpPr/>
          <p:nvPr/>
        </p:nvSpPr>
        <p:spPr>
          <a:xfrm>
            <a:off x="9092446" y="4543901"/>
            <a:ext cx="4764048" cy="1647825"/>
          </a:xfrm>
          <a:prstGeom prst="roundRect">
            <a:avLst>
              <a:gd name="adj" fmla="val 5691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688" y="4878943"/>
            <a:ext cx="279083" cy="223242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9818013" y="4819412"/>
            <a:ext cx="381523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completeness: 100% — all columns fully populated across all 1,000 student records.</a:t>
            </a:r>
            <a:endParaRPr lang="en-US" sz="175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31A2557-1C7D-ADDB-AAD2-DF649289A762}"/>
              </a:ext>
            </a:extLst>
          </p:cNvPr>
          <p:cNvSpPr/>
          <p:nvPr/>
        </p:nvSpPr>
        <p:spPr>
          <a:xfrm>
            <a:off x="12844130" y="7664411"/>
            <a:ext cx="1786270" cy="448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897374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Visualisations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260" y="2060138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Step 13 — Matplotlib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44260" y="2591753"/>
            <a:ext cx="631162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chart types demonstrating raw Matplotlib versatility: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4260" y="3100626"/>
            <a:ext cx="6311622" cy="305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 chart — average score trend over student index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 plot — Math vs. Average Score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Histogram — average score distribution (bell-shaped, centered ~67)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 plot — five-number summary with outliers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Bubble chart — Math vs. Average, bubble size = Reading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 plot — Math score volume over index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heatmap — inter-subject correlations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582138" y="2060138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Step 14 — Seaborn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7582138" y="2591753"/>
            <a:ext cx="631162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statistical charts with polished, publication-ready styling: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82138" y="3100626"/>
            <a:ext cx="6311622" cy="2256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 plot — Math vs. Average Score (refined aesthetics)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Histogram + KDE — distribution with smooth density curve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 plot — automatic outlier detection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Pairplot — 4×4 matrix of all score variable relationships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heatmap — annotated coefficients (0.80–0.95 between subjects)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582138" y="5581293"/>
            <a:ext cx="6311622" cy="1526738"/>
          </a:xfrm>
          <a:prstGeom prst="roundRect">
            <a:avLst>
              <a:gd name="adj" fmla="val 5850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784" y="5897166"/>
            <a:ext cx="265748" cy="21264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73177" y="5833705"/>
            <a:ext cx="5407938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three subject scores are strongly correlated (0.80–0.95), confirming consistent performance patterns across subjects.</a:t>
            </a:r>
            <a:endParaRPr lang="en-US" sz="16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71C0D7-09E8-DA46-0F91-FE30E532AF4A}"/>
              </a:ext>
            </a:extLst>
          </p:cNvPr>
          <p:cNvSpPr/>
          <p:nvPr/>
        </p:nvSpPr>
        <p:spPr>
          <a:xfrm>
            <a:off x="12844130" y="7664411"/>
            <a:ext cx="1786270" cy="448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2148"/>
            <a:ext cx="69028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Categorical Distributions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96239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267903"/>
            <a:ext cx="3627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Demographic Insights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9521" y="2849047"/>
            <a:ext cx="6244709" cy="4309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518 Female (51.8%) vs. 482 Male (48.2%) — near-equal split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Race/Ethnicity: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 C dominates at 31.9%; Group A is smallest at 8.9%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 Education: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'Some college' (22.6%) and Associate's degree (22.2%) most common; Master's only 5.9%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Lunch Type: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64.5% standard, 35.5% free/reduced — a key socioeconomic proxy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Prep: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Only 35.8% completed the course — a major controllable factor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2FA284-4531-B371-2E7E-BC700CE53043}"/>
              </a:ext>
            </a:extLst>
          </p:cNvPr>
          <p:cNvSpPr/>
          <p:nvPr/>
        </p:nvSpPr>
        <p:spPr>
          <a:xfrm>
            <a:off x="12844130" y="7664411"/>
            <a:ext cx="1786270" cy="448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6036"/>
            <a:ext cx="126969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Groupby Analysis: What Drives Performance?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2844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Grouping by categorical variables reveals clear performance patterns across gender, test preparation, and socioeconomic status.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64550"/>
            <a:ext cx="904518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30" y="3101102"/>
            <a:ext cx="91440" cy="91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9050" y="3087410"/>
            <a:ext cx="675918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Standard Lunch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759268" y="3064550"/>
            <a:ext cx="1107162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608" y="3101102"/>
            <a:ext cx="91440" cy="91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34528" y="3087410"/>
            <a:ext cx="87856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Free/Reduced Lunch</a:t>
            </a:r>
            <a:endParaRPr lang="en-US" sz="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305294"/>
            <a:ext cx="6244709" cy="3457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599521" y="30362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599521" y="3617357"/>
            <a:ext cx="6244709" cy="386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Gender Gap: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Males lead in Math (+5.1 pts); Females dominate Reading (+7.1) and Writing (+9.2)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Prep Impact: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Completers score ~5–10 pts higher across all subjects; Writing shows the largest gain (~10 pts)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Lunch Type: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Standard lunch students outperform by 7–11 pts per subject — the strongest single predictor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Parental Education: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Master's degree parents → highest avg scores; clear positive gradient across all six levels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2FFBB3-1AE7-06DF-769B-9381C6F931AF}"/>
              </a:ext>
            </a:extLst>
          </p:cNvPr>
          <p:cNvSpPr/>
          <p:nvPr/>
        </p:nvSpPr>
        <p:spPr>
          <a:xfrm>
            <a:off x="12844130" y="7664411"/>
            <a:ext cx="1786270" cy="448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2148"/>
            <a:ext cx="69028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Boxplot of Average Score — Matplotlib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100000"/>
            <a:ext cx="7500000" cy="5500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00000" y="2100000"/>
            <a:ext cx="5600000" cy="4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Observations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00000" y="2650000"/>
            <a:ext cx="5600000" cy="5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~69 — slightly above the dataset mean of 67.77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IQR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~62–76; most students cluster in the 60–80 range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Few low-score outliers below 30 — rare but present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Spread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Whiskers extend from ~30 to 100 — wide but skewed high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31DFE-D166-380C-56B2-A698F32E9ED9}"/>
              </a:ext>
            </a:extLst>
          </p:cNvPr>
          <p:cNvSpPr/>
          <p:nvPr/>
        </p:nvSpPr>
        <p:spPr>
          <a:xfrm>
            <a:off x="12844130" y="7664411"/>
            <a:ext cx="1786270" cy="448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2148"/>
            <a:ext cx="69028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Average Score Distribution — Seaborn Boxplot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100000"/>
            <a:ext cx="7500000" cy="5500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00000" y="2100000"/>
            <a:ext cx="5600000" cy="4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Observations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00000" y="2650000"/>
            <a:ext cx="5600000" cy="5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Median near 68; box spans ~60–78 (IQR ≈ 18)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Symmetry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Near-symmetric with slight left tail toward lower scores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Four extreme outliers below 30 identified by Seaborn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Range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Scores span from ~8 to 100 — full range utilised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39E079-C4E0-705E-494B-4EBE90539EB0}"/>
              </a:ext>
            </a:extLst>
          </p:cNvPr>
          <p:cNvSpPr/>
          <p:nvPr/>
        </p:nvSpPr>
        <p:spPr>
          <a:xfrm>
            <a:off x="12844130" y="7664411"/>
            <a:ext cx="1786270" cy="448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2148"/>
            <a:ext cx="69028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Math Score vs Average Score — Bubble Chart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100000"/>
            <a:ext cx="7500000" cy="5500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00000" y="2100000"/>
            <a:ext cx="5600000" cy="4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Observations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00000" y="2650000"/>
            <a:ext cx="5600000" cy="5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Strong positive linear trend between Math and Average Score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Bubble Size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Bubble radius = Reading Score; larger bubbles cluster top-right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High Math scorers also tend to have high Reading scores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 few low Math scores (below 20) with disproportionate averages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49408E-8E46-31D8-9098-BB5CF51618E6}"/>
              </a:ext>
            </a:extLst>
          </p:cNvPr>
          <p:cNvSpPr/>
          <p:nvPr/>
        </p:nvSpPr>
        <p:spPr>
          <a:xfrm>
            <a:off x="12844130" y="7664411"/>
            <a:ext cx="1786270" cy="448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2148"/>
            <a:ext cx="69028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Math Score Trend — Area Plot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100000"/>
            <a:ext cx="7500000" cy="5500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00000" y="2100000"/>
            <a:ext cx="5600000" cy="4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Observations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00000" y="2650000"/>
            <a:ext cx="5600000" cy="5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Volatility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Scores fluctuate widely across all 1,000 student indices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Band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Most scores cluster between 40–80 throughout the dataset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Trend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No temporal trend — data is not ordered by performance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Extremes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Occasional spikes to 100 and dips to 0 visible throughout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87EB61-51AA-E677-A929-0631EDB99842}"/>
              </a:ext>
            </a:extLst>
          </p:cNvPr>
          <p:cNvSpPr/>
          <p:nvPr/>
        </p:nvSpPr>
        <p:spPr>
          <a:xfrm>
            <a:off x="12844130" y="7664411"/>
            <a:ext cx="1786270" cy="448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2148"/>
            <a:ext cx="69028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Pairplot of Score Variables — Seaborn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100000"/>
            <a:ext cx="7500000" cy="5500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00000" y="2100000"/>
            <a:ext cx="5600000" cy="4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Observations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00000" y="2650000"/>
            <a:ext cx="5600000" cy="5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Diagonals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Histograms on diagonal — all three scores show bell-shaped distribution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Off-diagonal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Scatter plots show tight linear clusters for all subject pairs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Score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Average score closely mirrors each individual subject distribution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 few isolated low-score students visible in every scatter panel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C75F7D-499B-7FF6-2DAF-A9CA8F4C2917}"/>
              </a:ext>
            </a:extLst>
          </p:cNvPr>
          <p:cNvSpPr/>
          <p:nvPr/>
        </p:nvSpPr>
        <p:spPr>
          <a:xfrm>
            <a:off x="12844130" y="7664411"/>
            <a:ext cx="1786270" cy="448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2148"/>
            <a:ext cx="69028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Correlation Heatmap — Matplotlib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100000"/>
            <a:ext cx="7500000" cy="5500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00000" y="2100000"/>
            <a:ext cx="5600000" cy="4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Observations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00000" y="2650000"/>
            <a:ext cx="5600000" cy="5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Reading–Writing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Strongest pair correlation at 0.95 — near-identical skill sets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Math Correlation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Math correlates at 0.80–0.82 with Reading and Writing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&amp; Avg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Total and average_score are perfectly correlated (1.00)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Strong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All inter-subject correlations exceed 0.80 — consistent performers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309B0F-9828-705C-43FD-3051F592E992}"/>
              </a:ext>
            </a:extLst>
          </p:cNvPr>
          <p:cNvSpPr/>
          <p:nvPr/>
        </p:nvSpPr>
        <p:spPr>
          <a:xfrm>
            <a:off x="12844130" y="7664411"/>
            <a:ext cx="1786270" cy="4482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797" y="130135"/>
            <a:ext cx="5312807" cy="79692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7814" y="571143"/>
            <a:ext cx="6189345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Key Takeaways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07814" y="1313259"/>
            <a:ext cx="7928372" cy="1203960"/>
          </a:xfrm>
          <a:prstGeom prst="roundRect">
            <a:avLst>
              <a:gd name="adj" fmla="val 605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89027" y="1494473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Gender Gap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89027" y="1845469"/>
            <a:ext cx="7565946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Males lead in Math (+5 pts); Females dominate Reading &amp; Writing (+5–9 pts). Subject-specific pedagogy may help.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07814" y="2650093"/>
            <a:ext cx="7928372" cy="1203960"/>
          </a:xfrm>
          <a:prstGeom prst="roundRect">
            <a:avLst>
              <a:gd name="adj" fmla="val 605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89027" y="2831306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Prep Works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89027" y="3182303"/>
            <a:ext cx="7565946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Completers score 5–10 pts higher. Only 35.8% participated — significant room to improve outcomes.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07814" y="3986927"/>
            <a:ext cx="7928372" cy="1203960"/>
          </a:xfrm>
          <a:prstGeom prst="roundRect">
            <a:avLst>
              <a:gd name="adj" fmla="val 605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89027" y="4168140"/>
            <a:ext cx="2419112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Socioeconomic Impact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89027" y="4519136"/>
            <a:ext cx="7565946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lunch students outperform by 7–11 pts — the strongest single predictor of academic performance.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07814" y="5323761"/>
            <a:ext cx="7928372" cy="1203960"/>
          </a:xfrm>
          <a:prstGeom prst="roundRect">
            <a:avLst>
              <a:gd name="adj" fmla="val 605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89027" y="5504974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Parental Education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89027" y="5855970"/>
            <a:ext cx="7565946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positive gradient: Master's degree parents → highest scores. Intergenerational education effect is evident.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07814" y="6677263"/>
            <a:ext cx="7928372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~71% achieved First Class or Distinction; only ~3.5% failed. The combination of </a:t>
            </a:r>
            <a:r>
              <a:rPr lang="en-US" sz="13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free/reduced lunch + no test prep</a:t>
            </a: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primary bottleneck for low scores. This project successfully demonstrated all 14 EDA techniques using Pandas, NumPy, Matplotlib, and Seaborn in a Jupyter Notebook environment.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1352</Words>
  <Application>Microsoft Office PowerPoint</Application>
  <PresentationFormat>Custom</PresentationFormat>
  <Paragraphs>190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Inter Bold</vt:lpstr>
      <vt:lpstr>Inter Light</vt:lpstr>
      <vt:lpstr>Inter</vt:lpstr>
      <vt:lpstr>-apple-system, BlinkMacSystemFont, Segoe UI, Roboto, Helvetica Neue, Arial, sans-serif Medium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Ansh Yadav</cp:lastModifiedBy>
  <cp:revision>4</cp:revision>
  <dcterms:created xsi:type="dcterms:W3CDTF">2026-04-20T12:07:37Z</dcterms:created>
  <dcterms:modified xsi:type="dcterms:W3CDTF">2026-04-20T17:29:49Z</dcterms:modified>
</cp:coreProperties>
</file>