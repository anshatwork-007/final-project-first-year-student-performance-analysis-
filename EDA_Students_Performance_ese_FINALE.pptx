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73" r:id="rId12"/>
    <p:sldId id="278" r:id="rId13"/>
    <p:sldId id="267" r:id="rId14"/>
    <p:sldId id="274" r:id="rId15"/>
    <p:sldId id="271" r:id="rId16"/>
    <p:sldId id="272" r:id="rId17"/>
    <p:sldId id="269" r:id="rId18"/>
    <p:sldId id="277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Score Distribution Summary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A8-4C96-8427-DDA9DA8D7F7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A8-4C96-8427-DDA9DA8D7F79}"/>
              </c:ext>
            </c:extLst>
          </c:dPt>
          <c:dPt>
            <c:idx val="2"/>
            <c:invertIfNegative val="0"/>
            <c:bubble3D val="0"/>
            <c:spPr>
              <a:solidFill>
                <a:srgbClr val="3A80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A8-4C96-8427-DDA9DA8D7F7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A8-4C96-8427-DDA9DA8D7F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(25%)</c:v>
                </c:pt>
                <c:pt idx="1">
                  <c:v>Median</c:v>
                </c:pt>
                <c:pt idx="2">
                  <c:v>Q3 (75%)</c:v>
                </c:pt>
                <c:pt idx="3">
                  <c:v>Mean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61.83</c:v>
                </c:pt>
                <c:pt idx="1">
                  <c:v>67.33</c:v>
                </c:pt>
                <c:pt idx="2">
                  <c:v>74.67</c:v>
                </c:pt>
                <c:pt idx="3">
                  <c:v>67.77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CA8-4C96-8427-DDA9DA8D7F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9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E815-0C98-12E9-9F3D-56972095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662C2-3841-13D5-81D2-6C6D80595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B6536-00C9-CBBE-DBE5-0D51A6B9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35853-E58C-CF56-FD46-D4406D03C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02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70B0-5252-67AC-0A2D-5E7F86D9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4BB23-9888-57B4-6C8F-D5334AEAE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64C00-AABD-CA59-DFD5-29C5AC18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3AB78-9C17-D7C8-A77C-A2D27303B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40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LAB PROJECT REPORT  ·  SIT PUNE  ·  2025–26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Student’s Academic Performance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Telecommunication Engineering  ·  First Year B.Tech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Ansh Yadav   ·   Faculty In-charge: Mrs. Snehal Bhosale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14 EDA techniques from the Semester 2 curriculum to the Students Performance in Exams dataset (Kaggle) — analysing 1,000 students across Math, Reading, and Writing scores alongside demographic and socioeconomic factors.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627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956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visual analysis across all three subjects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9512" y="1627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1956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performance comparison by gender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" y="2770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099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parent education and student outcomes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2697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2697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9512" y="2770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Effect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9512" y="3099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of students who completed vs. skipped the course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3840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913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Role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4242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 as a proxy for economic status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840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09160" y="3840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09160" y="3840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39512" y="3913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Classification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39512" y="4242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students: Distinction, First Class, Pass, Fail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Kaggle Students Performance in Exams dataset — 1,000 rows, 10 columns (8 raw + 2 computed), zero missing values.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2316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+ 2 comp.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clean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 factors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Overview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31089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09067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73168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race_ethnicity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5120" y="31089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through 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50215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parent_education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0" y="35204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to Master's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50215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73168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35204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Free-reduced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91363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84048" y="3931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86000" y="39319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None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91363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73168" y="3931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/ reading / writing_score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75120" y="39319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0–100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32511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4048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86000" y="43434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three subjects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432511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73168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average_score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75120" y="43434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three subjects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Python libraries formed the complete EDA pipeline — from data loading and computation to publication-quality visualisation.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371600" cy="76809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 for loading, cleaning, and manipulating the DataFrame. Used for read_csv(), groupby(), crosstab(), filtering, and derived columns.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1371600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258568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35000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numerical computing library. Powers all statistical computations internally; used directly for np.round() on float values.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45536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1371600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323697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visualisation library. Step 13 uses it to generate 7 chart types — line, scatter, histogram, box plot, bubble, area, and heatmap.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4032504"/>
            <a:ext cx="1371600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4032504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3080" y="412394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visualisation built on Matplotlib. Step 14 uses it for 5 polished charts — scatter, KDE histogram, box plot,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annotated heatmap.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&amp; Data Quality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7680960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298094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leads in mean score; Math is lowest. Close mean–median proximity indicates symmetric distributions.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320040" y="3364992"/>
            <a:ext cx="8503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3685032"/>
            <a:ext cx="85039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columns recorded zero missing values — an exceptionally clean dataset.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or row-dropping was required, allowing all 1,000 rows to be used in every analysis step.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completeness: 100% — all columns fully populated across all 1,000 student records.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— Matplotlib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39867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average score trend over student index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Math vs. Average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average score distribution (bell-shaped, ~67)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five-number summary with outliers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 — Math vs. Average, bubble size = Reading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plot — Math score volume over index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inter-subject correlations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— Seaborn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216152"/>
            <a:ext cx="39867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Math vs. Average Score (refined aesthetics)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 — distribution with smooth density curve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automatic outlier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 — 4×4 matrix of all score variable relationships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annotated coefficients (0.80–0.95)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subject scores are strongly correlated (0.80–0.95), confirming consistent performance patterns across subjects.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Distributions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Demographic Insights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62179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34416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Female (51.8%) vs. 482 Male (48.2%) — near-equal split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8595360" cy="621792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Race/Ethnicity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0756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dominates at 31.9%; Group A is smallest at 8.9%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8595360" cy="62179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6974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Education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'Some college' (22.6%) and Associate's (22.2%) most common; Master's only 5.9%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8595360" cy="621792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42900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53872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 standard, 35.5% free/reduced — key socioeconomic proxy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8595360" cy="62179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427024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35.8% completed the course — a major controllable factor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Analysis: What Drives Performance?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categorical variables reveals clear performance patterns across gender, test preparation, and socioeconomic status.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2336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70.0   Reading: 71.7   Writing: 71.0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2336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02336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Free/Reduced Lunch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7448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58.9   Reading: 64.7   Writing: 63.0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Gap: Males lead in Math (+5.1 pts); Females dominate Reading (+7.1) and Writing (+9.2)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Impact: Completers score ~5–10 pts higher across all subjects; Writing shows the largest gain (~10 pts)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Type: Standard lunch students outperform by 7–11 pts per subject — the strongest single predictor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Education: Master's degree parents → highest avg scores; clear positive gradient across all six levels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 of Students — Two Chart Views</a:t>
            </a:r>
            <a:endParaRPr lang="en-US" sz="2200" dirty="0"/>
          </a:p>
        </p:txBody>
      </p:sp>
      <p:pic>
        <p:nvPicPr>
          <p:cNvPr id="4" name="Image 0" descr="/mnt/user-data/uploads/Donut_Chart___Gender_Distribution_of_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04672"/>
            <a:ext cx="4160520" cy="3200400"/>
          </a:xfrm>
          <a:prstGeom prst="rect">
            <a:avLst/>
          </a:prstGeom>
        </p:spPr>
      </p:pic>
      <p:pic>
        <p:nvPicPr>
          <p:cNvPr id="5" name="Image 1" descr="/mnt/user-data/uploads/Distribution_of_g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04672"/>
            <a:ext cx="416052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(Matplotlib)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(Seaborn)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28600" y="4407408"/>
            <a:ext cx="868680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 Female, 48.2% Male — the hole emphasizes proportion elegantly without clutter.  </a:t>
            </a:r>
            <a:b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rendered as a full pie; pink/blue palette makes the gender split immediately intuitive.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Average Score — Matplotlib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4920" y="804672"/>
            <a:ext cx="374904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80467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84648" y="804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1188720"/>
            <a:ext cx="356616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~69 — slightly above the dataset mean of 67.77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IQR: ~62–76; most students cluster in the 60–80 range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Few low-score outliers below 30 — rare but present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Whiskers extend from ~30 to 100 — wide but skewed high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804672"/>
          <a:ext cx="4663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parental Level 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Education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The student population is unevenly distributed, with Group C being the largest (31.9%) and Group A being the smallest (8.9%).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Performance: Math scores follow a normal, bell-shaped distribution that peaks around the 66-point average, though a few extreme low outliers create a slight left tail.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Influence: There is a strong, positive link between a parent's education level and a student's academic success. Students whose parents hold a master's degree achieve the highest average scores overall</a:t>
            </a:r>
            <a:endParaRPr lang="en-US" sz="115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9830BB1-DE22-F9A4-E501-70C77C7A0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1" y="804672"/>
            <a:ext cx="4971562" cy="397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1E900-C59D-ADBB-75C4-2CFEAAAA7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688D8F-8B03-94E5-3E9A-25CED4CA60D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65A418-91E6-CCC3-C42D-E2994F8CAE0D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Distribution of Students — Two Chart Views</a:t>
            </a:r>
            <a:endParaRPr lang="en-US" sz="2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F6519DF-9A7D-CB93-6598-9DB8B6E175E8}"/>
              </a:ext>
            </a:extLst>
          </p:cNvPr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D148608-0D59-2E1E-4F60-33C3F937AC99}"/>
              </a:ext>
            </a:extLst>
          </p:cNvPr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(Matplotlib)</a:t>
            </a:r>
            <a:endParaRPr lang="en-US" sz="11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A6167EE-B6EE-3D9F-3F63-932C20BF5407}"/>
              </a:ext>
            </a:extLst>
          </p:cNvPr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49739E5-FDD5-63FA-0098-4952DD228CB1}"/>
              </a:ext>
            </a:extLst>
          </p:cNvPr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(Seaborn)</a:t>
            </a:r>
            <a:endParaRPr lang="en-US" sz="11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5D32B1E-3491-6C2F-2ED1-94D787B59EF1}"/>
              </a:ext>
            </a:extLst>
          </p:cNvPr>
          <p:cNvSpPr/>
          <p:nvPr/>
        </p:nvSpPr>
        <p:spPr>
          <a:xfrm>
            <a:off x="228600" y="4407408"/>
            <a:ext cx="868680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E493B05-DCEA-B6DF-D195-4F66ED46F064}"/>
              </a:ext>
            </a:extLst>
          </p:cNvPr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2563A8"/>
                </a:solidFill>
                <a:ea typeface="Calibri" pitchFamily="34" charset="-122"/>
                <a:cs typeface="Calibri" pitchFamily="34" charset="-120"/>
              </a:rPr>
              <a:t>Box Plot:</a:t>
            </a:r>
            <a: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Median: ~69 </a:t>
            </a:r>
            <a:b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</a:br>
            <a: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                Outliers: Few low-score outliers below 30</a:t>
            </a:r>
            <a:br>
              <a:rPr lang="en-US" sz="11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                R</a:t>
            </a:r>
            <a: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ange: Scores span from ~8 to 100 </a:t>
            </a:r>
            <a:endParaRPr lang="en-US" sz="115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C3C1B101-69C5-66CF-42AF-BE346AEB6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63" y="781112"/>
            <a:ext cx="4160522" cy="3260536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5B5C805-2881-5A9A-674D-069A86B83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62322"/>
            <a:ext cx="4094733" cy="300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2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Score Trend — Area Plot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4920" y="804672"/>
            <a:ext cx="374904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80467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84648" y="804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1188720"/>
            <a:ext cx="356616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Scores fluctuate widely across all 1,000 student indices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Band: Most scores cluster between 40–80 throughout the dataset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Trend: No temporal trend — data is not ordered by performance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Extremes: Occasional spikes to 100 and dips to 0 visible throughout</a:t>
            </a:r>
            <a:endParaRPr lang="en-US" sz="115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B0AB8A3-722F-FA30-5DF6-B1F9E505A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8" y="804672"/>
            <a:ext cx="48962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Distribution of Student Scores — 3D Scatter Plot (Matplotlib)</a:t>
            </a:r>
            <a:endParaRPr lang="en-US" sz="2200" dirty="0"/>
          </a:p>
        </p:txBody>
      </p:sp>
      <p:pic>
        <p:nvPicPr>
          <p:cNvPr id="4" name="Image 0" descr="/mnt/user-data/uploads/3D_Scatter_Plot___3D_Distribution_of_Student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 — Math (X), Reading (Y), Writing (Z) — capture all score dimensions at once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forms a tight diagonal cluster from low-left-front to high-right-back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extremely strong positive correlation across all three subjects simultaneously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students (near-zero scores) visible as isolated low points in the front-left corner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cluster: students with 80–100 across all three subjects — consistent high performers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visualisation reveals joint distribution patterns impossible to see in 2D scatter plots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Students by Test Preparation Course — Exploding Pie</a:t>
            </a:r>
            <a:endParaRPr lang="en-US" sz="2200" dirty="0"/>
          </a:p>
        </p:txBody>
      </p:sp>
      <p:pic>
        <p:nvPicPr>
          <p:cNvPr id="4" name="Image 0" descr="/mnt/user-data/uploads/Exploding_Pie_Chart___Distribution_of_Students_by_Test_Preparation_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64.2% of students (642) did NOT complete test prep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35.8% (358 students) completed the course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'completed' slice is exploded to highlight the minority group and draw immediate attention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completed prep score ~5–10 pts higher across all subjects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scores show the largest gain from prep (~10 pts boost)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64.2% of students skipped prep — significant room to improve outcomes institution-wide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Score Trends — Advanced Line Chart (Seaborn)</a:t>
            </a:r>
            <a:endParaRPr lang="en-US" sz="2200" dirty="0"/>
          </a:p>
        </p:txBody>
      </p:sp>
      <p:pic>
        <p:nvPicPr>
          <p:cNvPr id="4" name="Image 0" descr="/mnt/user-data/uploads/Advanced_Line_Chart___Subject-wise_Score_Trends__Seabor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subjects — Math, Reading, Writing — fluctuate tightly together across all 1,000 students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upward or downward trend confirms data is not ordered by performance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lines track extremely closely, confirming 0.95 correlation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dips lower more frequently, reflecting its slightly lower mean (66.09 vs 69.17)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spikes to 100 and drops to 0–20 show wide individual variation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Seaborn's clean styling (thicker lines, better defaults) improves readability over raw Matplotlib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Matplotlib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4920" y="804672"/>
            <a:ext cx="374904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80467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84648" y="804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1188720"/>
            <a:ext cx="356616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Reading–Writing: Strongest pair correlation at 0.95 — near-identical skill sets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Correlation: Math correlates at 0.80–0.82 with Reading and Writing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Avg: Total and average_score are perfectly correlated (1.00)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Strong: All inter-subject correlations exceed 0.80 — consistent performers</a:t>
            </a:r>
            <a:endParaRPr lang="en-US" sz="115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355500E-E5DD-F87B-A87A-F9A66260E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8" y="804672"/>
            <a:ext cx="48962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AFF01-0F1E-C508-72A2-271E5C2F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43ECCB-9ED4-D16E-895C-E839FC4AFD9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C7AC13-128C-BCEB-EF9D-2F87178821DF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Pairplot of Score Variables </a:t>
            </a: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(Seaborn)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B37BB76-5778-77B7-64FF-946432BBA91D}"/>
              </a:ext>
            </a:extLst>
          </p:cNvPr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7C5C549-DC77-A633-B167-57FB15D237CB}"/>
              </a:ext>
            </a:extLst>
          </p:cNvPr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46405B6-D51D-6297-98D7-4DE7138DB22C}"/>
              </a:ext>
            </a:extLst>
          </p:cNvPr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0FB45B6-30E3-6336-5825-411CBA8F5C67}"/>
              </a:ext>
            </a:extLst>
          </p:cNvPr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Diagonals: Histograms on diagonal — all three scores show bell-shaped distribution</a:t>
            </a:r>
            <a:endParaRPr lang="en-US" sz="1150" kern="90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Off-diagonal: Scatter plots show tight linear clusters for all subject pairs</a:t>
            </a:r>
            <a:endParaRPr lang="en-US" sz="1150" kern="90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Average Score: Average score closely mirrors each individual subject distribution</a:t>
            </a:r>
            <a:endParaRPr lang="en-US" sz="1150" kern="90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Outliers: A few isolated low-score students visible in every scatter panel</a:t>
            </a:r>
            <a:endParaRPr lang="en-US" sz="1150" kern="9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C9C479F-919A-8186-BC88-911342084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31" y="855785"/>
            <a:ext cx="4629389" cy="38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8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Subject Scores Comparison — Radar Plot / Spider Chart (Matplotlib)</a:t>
            </a:r>
            <a:endParaRPr lang="en-US" sz="2200" dirty="0"/>
          </a:p>
        </p:txBody>
      </p:sp>
      <p:pic>
        <p:nvPicPr>
          <p:cNvPr id="4" name="Image 0" descr="/mnt/user-data/uploads/Radar_Plot__Spider_Chart____Average_Subject_Scores_Comparison__Male_vs_Female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and Female lines overlap significantly — both groups perform at a similar overall level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axis: Males extend slightly further (~68.7 vs 63.6 for females)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axes: Female polygon extends noticeably beyond male for both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'crossed' shape of the two polygons shows each gender has a distinct strength profile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chart makes multi-dimensional gender comparison intuitive in a single glance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overlap confirms consistent performers in both groups with subject-specific differences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69080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lead Math (+5 pts); Females dominate Reading &amp; Writing (+5–9 pts). Subject-specific pedagogy may help.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167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Completers score 5–10 pts higher. Only 35.8% participated — significant room to improve outcomes.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0690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1455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lunch students outperform by 7–11 pts — the strongest single predictor of academic performance.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690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1455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positive gradient: Master's degree parents → highest scores. Intergenerational education effect is evident.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~71% achieved First Class or Distinction. Free/reduced lunch + no test prep = primary bottleneck. All 14 EDA techniques demonstrated successfully.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1777</Words>
  <Application>Microsoft Office PowerPoint</Application>
  <PresentationFormat>On-screen Show (16:9)</PresentationFormat>
  <Paragraphs>241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on Students Academic Performance</dc:title>
  <dc:subject>PptxGenJS Presentation</dc:subject>
  <dc:creator>Ansh Yadav</dc:creator>
  <cp:lastModifiedBy>Ansh Yadav</cp:lastModifiedBy>
  <cp:revision>6</cp:revision>
  <dcterms:created xsi:type="dcterms:W3CDTF">2026-04-21T17:43:45Z</dcterms:created>
  <dcterms:modified xsi:type="dcterms:W3CDTF">2026-04-21T19:39:14Z</dcterms:modified>
</cp:coreProperties>
</file>